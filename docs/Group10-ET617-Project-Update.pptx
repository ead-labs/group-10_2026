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FB6D8"/>
                </a:solidFill>
                <a:latin typeface="Calibri"/>
              </a:rPr>
              <a:t>ET 617  ·  EDUCATIONAL APPLICATION DEVELOPMENT  ·  GROUP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AI-Assisted Spoken Tutorial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Video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27248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9ED8D0"/>
                </a:solidFill>
                <a:latin typeface="Calibri"/>
              </a:rPr>
              <a:t>Making the translation fit the time, instead of making the speaker rush.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977639"/>
            <a:ext cx="4206240" cy="25603"/>
          </a:xfrm>
          <a:prstGeom prst="rect">
            <a:avLst/>
          </a:prstGeom>
          <a:solidFill>
            <a:srgbClr val="3C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Calibri"/>
              </a:rPr>
              <a:t>THE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53712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C5D5E4"/>
                </a:solidFill>
                <a:latin typeface="Calibri"/>
              </a:rPr>
              <a:t>Spoken Tutorials are dubbed into Indian languages over a video that cannot change. Tamil needs more time than English, so dubbing artists speak faster and comprehension suffers. We fix the text, not the 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51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Calibr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5371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Sameer Gupta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57200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6D8"/>
                </a:solidFill>
                <a:latin typeface="Calibri"/>
              </a:rPr>
              <a:t>23B2509  ·  Team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91947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Daksh Jain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93776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6D8"/>
                </a:solidFill>
                <a:latin typeface="Calibri"/>
              </a:rPr>
              <a:t>23B2503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28523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Sumedh Taru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30352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6D8"/>
                </a:solidFill>
                <a:latin typeface="Calibri"/>
              </a:rPr>
              <a:t>23B2487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65099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Sanidhya Katiyar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56692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6D8"/>
                </a:solidFill>
                <a:latin typeface="Calibri"/>
              </a:rPr>
              <a:t>23B2244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C97B2"/>
                </a:solidFill>
                <a:latin typeface="Calibri"/>
              </a:rPr>
              <a:t>Client: EduPyramids, Centre for Educational Technology, IIT Bombay   ·   Contact: Saisudha, Ankita, Debosmita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B2"/>
                </a:solidFill>
                <a:latin typeface="Calibri"/>
              </a:rPr>
              <a:t>STEP 0  ·  SCRIPT INGESTION &amp;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42B45"/>
                </a:solidFill>
                <a:latin typeface="Calibri"/>
              </a:rPr>
              <a:t>Reading the script, and its 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 problem is a timing problem, so the first thing we built was the thing that answers one question: how many seconds does each line of narration actually get?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6400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65960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Calibri"/>
              </a:rPr>
              <a:t>Parses the timed script into 95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03704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Narration rows, action cues, per-segment time budgets, all validated against the client's Dubbers' Checklist.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670048"/>
            <a:ext cx="6400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606040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Calibri"/>
              </a:rPr>
              <a:t>Validates sentences, budgets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43784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A row is an activity that may hold several sentences. 21 rows exceed 80 characters, but only 12 sentences truly break the rule.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310128"/>
            <a:ext cx="6400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246120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Calibri"/>
              </a:rPr>
              <a:t>Carries bold terms 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483864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Technical terms must never be translated. The parser captures them for the translation stage.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7A0E"/>
                </a:solidFill>
                <a:latin typeface="Calibri"/>
              </a:rPr>
              <a:t>THE TRAP WE FOUND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286000"/>
            <a:ext cx="5074920" cy="2148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286000"/>
            <a:ext cx="45720" cy="2148840"/>
          </a:xfrm>
          <a:prstGeom prst="rect">
            <a:avLst/>
          </a:prstGeom>
          <a:solidFill>
            <a:srgbClr val="C8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4505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42B45"/>
                </a:solidFill>
                <a:latin typeface="Calibri"/>
              </a:rPr>
              <a:t>90 of the 663 seconds are other tutorials playing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92608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Cue rows such as “@07:41 Add the audio from Logo animation 05:01–05:09” splice in clips from other tutorials.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Segment S-069 looks like it has a 13-second window. It has 3. Narration written into the rest would land on top of the client's own audio.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779008"/>
            <a:ext cx="10874959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779008"/>
            <a:ext cx="45720" cy="56692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916168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B45"/>
                </a:solidFill>
                <a:latin typeface="Calibri"/>
              </a:rPr>
              <a:t>Output: 95 segments with honest budgets — the foundation every later stage depends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B2"/>
                </a:solidFill>
                <a:latin typeface="Calibri"/>
              </a:rPr>
              <a:t>STEP 1  ·  AUDIO MEASUREMENT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42B45"/>
                </a:solidFill>
                <a:latin typeface="Calibri"/>
              </a:rPr>
              <a:t>We stopped guessing and listened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Step 0 could read the script's clock. But it still guessed how long speech takes — and the guess was wrong by a full second, flagging 42 of 95 English lines that were demonstrably fine.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B2"/>
                </a:solidFill>
                <a:latin typeface="Calibri"/>
              </a:rPr>
              <a:t>MEASURED FROM THE CLIENT'S OWN RECORDINGS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5486400" cy="32918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40487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40487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40487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Tamil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60904"/>
            <a:ext cx="5486400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2491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Speaking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724912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3.91 syl/s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724912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0392B"/>
                </a:solidFill>
                <a:latin typeface="Calibri"/>
              </a:rPr>
              <a:t>4.85 syl/s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07238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Pause after a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072384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0.41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072384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0392B"/>
                </a:solidFill>
                <a:latin typeface="Calibri"/>
              </a:rPr>
              <a:t>0.00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55848"/>
            <a:ext cx="5486400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1985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Lines with no pause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419856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25 / 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3419856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0392B"/>
                </a:solidFill>
                <a:latin typeface="Calibri"/>
              </a:rPr>
              <a:t>50 / 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76732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Window actually spoken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4096" y="376732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73.2 %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376732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84.4 %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069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The rushing is two things at once: the Tamil dub is spoken 24% faster AND 59 seconds of pause were deleted. Neither is visible in the script.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Calibri"/>
              </a:rPr>
              <a:t>WHAT IT CHANGED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359152"/>
            <a:ext cx="4937760" cy="5852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241401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Prediction 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26243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1.11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5420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62432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8C7F"/>
                </a:solidFill>
                <a:latin typeface="Calibri"/>
              </a:rPr>
              <a:t>0.63 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072384"/>
            <a:ext cx="4937760" cy="5852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31272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False alarms on English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337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42 / 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2552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337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8C7F"/>
                </a:solidFill>
                <a:latin typeface="Calibri"/>
              </a:rPr>
              <a:t>11 / 95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785616"/>
            <a:ext cx="4937760" cy="5852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38404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Measured gap for Tamil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0507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37 %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9684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40507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8C7F"/>
                </a:solidFill>
                <a:latin typeface="Calibri"/>
              </a:rPr>
              <a:t>13 %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779008"/>
            <a:ext cx="10874959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5779008"/>
            <a:ext cx="45720" cy="56692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916168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B45"/>
                </a:solidFill>
                <a:latin typeface="Calibri"/>
              </a:rPr>
              <a:t>The job is far smaller than we thought: Tamil is 13% too long, not 37%. Rephrasing can close 13%.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B2"/>
                </a:solidFill>
                <a:latin typeface="Calibri"/>
              </a:rPr>
              <a:t>STEP 2  · 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42B45"/>
                </a:solidFill>
                <a:latin typeface="Calibri"/>
              </a:rPr>
              <a:t>A working chain, honestly labelled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With a duration model we could trust, we built the whole pipeline at once — every hard stage faked, so the chain runs from day one and each fake is replaced without anything around it changing.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2B45"/>
                </a:solidFill>
                <a:latin typeface="Calibri"/>
              </a:rPr>
              <a:t>parse  →  translate  →  synthesise  →  align  →  timeline  →  QA report  → 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06040"/>
            <a:ext cx="5532120" cy="32918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679192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9736" y="26791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26791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Replaced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35224"/>
            <a:ext cx="5532120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9923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Translate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299923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echo (stub)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299923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E8C7F"/>
                </a:solidFill>
                <a:latin typeface="Calibri"/>
              </a:rPr>
              <a:t>Module 2 —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346704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Synthesise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9736" y="334670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silent (stub)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334670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Piper, then Sarvam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5532120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6941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Align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9736" y="3694176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E8C7F"/>
                </a:solidFill>
                <a:latin typeface="Calibri"/>
              </a:rPr>
              <a:t>VAD —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8536" y="36941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word-level WhisperX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041648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9736" y="404164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E8C7F"/>
                </a:solidFill>
                <a:latin typeface="Calibri"/>
              </a:rPr>
              <a:t>SRT —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404164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Kdenlive / OTIO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670048"/>
            <a:ext cx="6400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2606040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Calibri"/>
              </a:rPr>
              <a:t>Every stage swaps by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2843784"/>
            <a:ext cx="47183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Changing TTS provider is a config change, not a rewrite — the client's own requirement, UC-07.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310128"/>
            <a:ext cx="6400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03136" y="3246120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Calibri"/>
              </a:rPr>
              <a:t>One segment re-runs alone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6" y="3483864"/>
            <a:ext cx="47183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Correcting a line does not trigger a full re-render (UC-03).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950208"/>
            <a:ext cx="6400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03136" y="3886200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Calibri"/>
              </a:rPr>
              <a:t>Runs print which stages are stubs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123944"/>
            <a:ext cx="47183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No demo can mistake a stub's arithmetic for real audio.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779008"/>
            <a:ext cx="10874959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779008"/>
            <a:ext cx="45720" cy="56692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916168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B45"/>
                </a:solidFill>
                <a:latin typeface="Calibri"/>
              </a:rPr>
              <a:t>61 automated tests. The pipeline was then rebased onto Step 1 — the translator is given the speaking budget, never the pause.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B2"/>
                </a:solidFill>
                <a:latin typeface="Calibri"/>
              </a:rPr>
              <a:t>STEP 3  ·  DROPPED BY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42B45"/>
                </a:solidFill>
                <a:latin typeface="Calibri"/>
              </a:rPr>
              <a:t>Why we did not move time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 pipeline could now spot every line that overruns. The obvious next step was to fix them by shifting time — borrowing from a neighbour, or freezing the video. We measured first, and dropped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Calibri"/>
              </a:rPr>
              <a:t>THE CLIENT'S CONSTRAINT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539496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331720"/>
            <a:ext cx="45720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“The final duration of every translated track must exactly match the English original, since the base video is not altered.”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— Meeting 2, 18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118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Calibri"/>
              </a:rPr>
              <a:t>AND THE ARITHMETIC DOES NOT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394960" cy="32918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00507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Tamil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400507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400507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261104"/>
            <a:ext cx="5394960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3251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Need more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43251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432511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109 s 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67258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Have time spare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467258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467258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42 s spare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956048"/>
            <a:ext cx="5394960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02005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02005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502005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0392B"/>
                </a:solidFill>
                <a:latin typeface="Calibri"/>
              </a:rPr>
              <a:t>68 s short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075688"/>
            <a:ext cx="6400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3136" y="2011680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Calibri"/>
              </a:rPr>
              <a:t>Holds would lengthen the 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2249424"/>
            <a:ext cx="47183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Freezing a frame buys time the client has explicitly ruled out.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715768"/>
            <a:ext cx="6400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2651760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Calibri"/>
              </a:rPr>
              <a:t>Borrowing needs an idle neighbour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3136" y="2889504"/>
            <a:ext cx="47183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The five worst segments each have 0.0 s spare on either side. The slack sits elsewhere in the tutorial and cannot be moved across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355848"/>
            <a:ext cx="6400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3136" y="3291840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B45"/>
                </a:solidFill>
                <a:latin typeface="Calibri"/>
              </a:rPr>
              <a:t>Best case recovers 42 s of 109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529584"/>
            <a:ext cx="47183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Even perfect redistribution leaves the track a minute too long.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779008"/>
            <a:ext cx="10874959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779008"/>
            <a:ext cx="45720" cy="566928"/>
          </a:xfrm>
          <a:prstGeom prst="rect">
            <a:avLst/>
          </a:prstGeom>
          <a:solidFill>
            <a:srgbClr val="C8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5916168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B45"/>
                </a:solidFill>
                <a:latin typeface="Calibri"/>
              </a:rPr>
              <a:t>Step 3 was not skipped — it was disproved. With time immovable, the only remaining lever is the text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B2"/>
                </a:solidFill>
                <a:latin typeface="Calibri"/>
              </a:rPr>
              <a:t>MODULE 2  ·  DURATION-CONSTRAINED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42B45"/>
                </a:solidFill>
                <a:latin typeface="Calibri"/>
              </a:rPr>
              <a:t>The improvement: the text gives, not the speaker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If the clock cannot move, the words must. Module 2 asks the model for a translation that fits a measured budget, checks the answer itself, and sends it back until it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B2"/>
                </a:solidFill>
                <a:latin typeface="Calibri"/>
              </a:rPr>
              <a:t>THE LOOP  ·  GPT-OSS 120B ON GROQ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256032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35915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00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speaking budget  →  target aksharas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34056"/>
            <a:ext cx="256032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75234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ask the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136392"/>
            <a:ext cx="256032" cy="256032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63824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154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measure it ourselves — never trust the model's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38728"/>
            <a:ext cx="256032" cy="25603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6616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55701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over? send it back with the exact shortfall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941064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9684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9593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3 attempts, still over → escalate to the author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52628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Segments needing a cut of 40% or more cannot be rephrased — meaning must go. Those 11 are escalated with the source, the best attempt and the shortfall, for a human to decide.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965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Calibri"/>
              </a:rPr>
              <a:t>VERIFIED AGAINST THE HUMAN TRANSLATOR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286000"/>
            <a:ext cx="4983480" cy="2286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3136" y="2432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S-020   “Open the terminal by pressing Ctrl + Alt + T”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27432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Calibri"/>
              </a:rP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7432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Nirmala UI"/>
              </a:rPr>
              <a:t>Ctrl + Alt + T அழுத்தி terminal திற.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12724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E8C7F"/>
                </a:solidFill>
                <a:latin typeface="Calibri"/>
              </a:rPr>
              <a:t>11 aksharas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349300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Human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49300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Nirmala UI"/>
              </a:rPr>
              <a:t>Ctrl + Alt + T keyகளை ஒன்றாக அழுத்தி terminalை திறக்கவும்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133087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B7280"/>
                </a:solidFill>
                <a:latin typeface="Calibri"/>
              </a:rPr>
              <a:t>20 aksharas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709160"/>
            <a:ext cx="4983480" cy="566928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3136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E8C7F"/>
                </a:solidFill>
                <a:latin typeface="Calibri"/>
              </a:rPr>
              <a:t>Same instruction, 9 fewer aksharas — at a comfortable pace.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779008"/>
            <a:ext cx="10874959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779008"/>
            <a:ext cx="45720" cy="56692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916168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B45"/>
                </a:solidFill>
                <a:latin typeface="Calibri"/>
              </a:rPr>
              <a:t>Next: real speech synthesis, then the generated narration muxed onto the client's own video.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